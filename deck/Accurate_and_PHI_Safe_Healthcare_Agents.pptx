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5F46"/>
                </a:solidFill>
                <a:latin typeface="DM Sans"/>
              </a:rPr>
              <a:t>FICTIONAL BUSINESS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1234440" cy="1234440"/>
          </a:xfrm>
          <a:prstGeom prst="roundRect">
            <a:avLst/>
          </a:prstGeom>
          <a:solidFill>
            <a:srgbClr val="FF5F46"/>
          </a:solidFill>
          <a:ln>
            <a:solidFill>
              <a:srgbClr val="FF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008" y="1472184"/>
            <a:ext cx="201168" cy="749808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746504"/>
            <a:ext cx="694944" cy="201168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1234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AF7F2"/>
                </a:solidFill>
                <a:latin typeface="DM Sans"/>
              </a:rPr>
              <a:t>LumaCare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5416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5F46"/>
                </a:solidFill>
                <a:latin typeface="DM Sans"/>
              </a:rPr>
              <a:t>CLINICAL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AF7F2"/>
                </a:solidFill>
                <a:latin typeface="DM Sans"/>
              </a:rPr>
              <a:t>LumaCare provides clinical decision support that helps care teams determine appropriate follow-up after hospital discharge.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D0D0D0"/>
                </a:solidFill>
                <a:latin typeface="DM Sans"/>
              </a:rPr>
              <a:t>Its healthcare agent must use current clinical policy and the minimum necessary patient context—producing an accurate, cited recommendation without exposing PHI in prompts, tools, traces, or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715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49494"/>
                </a:solidFill>
                <a:latin typeface="DM Sans"/>
              </a:rPr>
              <a:t>The company, logo, policies, patients, and identifiers in this lab are entirely fictional.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5F46"/>
                </a:solidFill>
                <a:latin typeface="DM Sans"/>
              </a:rPr>
              <a:t>HEALTHCARE AGENT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>
                <a:solidFill>
                  <a:srgbClr val="FAF7F2"/>
                </a:solidFill>
                <a:latin typeface="DM Sans"/>
              </a:rPr>
              <a:t>Accurate and PHI-Safe</a:t>
            </a:r>
            <a:br/>
            <a:r>
              <a:t>Healthcare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154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0D0D0"/>
                </a:solidFill>
                <a:latin typeface="DM Sans"/>
              </a:rPr>
              <a:t>A 22-minute combined lab using nested MLflow 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9494"/>
                </a:solidFill>
                <a:latin typeface="DM Sans"/>
              </a:rPr>
              <a:t>Minimum necessary context • Semantic redaction • Independent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CORE 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Healthcare agents must pass two independent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5074920" cy="347472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61772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Correct interval</a:t>
            </a:r>
            <a:br/>
            <a:r>
              <a:t>Controlling policy cited</a:t>
            </a:r>
            <a:br/>
            <a:r>
              <a:t>Precedence explained</a:t>
            </a:r>
            <a:br/>
            <a:r>
              <a:t>Clinical instruction preserved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074920" cy="347472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PHI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1772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Direct identifiers absent</a:t>
            </a:r>
            <a:br/>
            <a:r>
              <a:t>Tool scope authorized</a:t>
            </a:r>
            <a:br/>
            <a:r>
              <a:t>Minimum necessary context</a:t>
            </a:r>
            <a:br/>
            <a:r>
              <a:t>Safe memory and traces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AF7F2"/>
                </a:solidFill>
                <a:latin typeface="DM Sans"/>
              </a:rPr>
              <a:t>A correct answer can be unsafe. A private answer can be clinically useless.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AUTHORIZATION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Define purpose before accessing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D0D0D0"/>
                </a:solidFill>
                <a:latin typeface="DM Sans"/>
              </a:defRPr>
            </a:pPr>
            <a:r>
              <a:t>•  Intent: policy guidance—not a patient-specific recommendation.</a:t>
            </a:r>
          </a:p>
          <a:p>
            <a:pPr>
              <a:spcAft>
                <a:spcPts val="1200"/>
              </a:spcAft>
              <a:defRPr sz="2100">
                <a:solidFill>
                  <a:srgbClr val="D0D0D0"/>
                </a:solidFill>
                <a:latin typeface="DM Sans"/>
              </a:defRPr>
            </a:pPr>
            <a:r>
              <a:t>•  Authorized scope: clinical_policy; patient_record is not authorized.</a:t>
            </a:r>
          </a:p>
          <a:p>
            <a:pPr>
              <a:spcAft>
                <a:spcPts val="1200"/>
              </a:spcAft>
              <a:defRPr sz="2100">
                <a:solidFill>
                  <a:srgbClr val="D0D0D0"/>
                </a:solidFill>
                <a:latin typeface="DM Sans"/>
              </a:defRPr>
            </a:pPr>
            <a:r>
              <a:t>•  The authorization decision precedes retrieval, tool selection, and inference.</a:t>
            </a:r>
          </a:p>
          <a:p>
            <a:pPr>
              <a:spcAft>
                <a:spcPts val="1200"/>
              </a:spcAft>
              <a:defRPr sz="2100">
                <a:solidFill>
                  <a:srgbClr val="D0D0D0"/>
                </a:solidFill>
                <a:latin typeface="DM Sans"/>
              </a:defRPr>
            </a:pPr>
            <a:r>
              <a:t>•  The trace records purpose, patient specificity, and granted scopes.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EXPERIMENT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Four runs isolate four different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257800" cy="17373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60020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11680"/>
            <a:ext cx="480060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Accuracy ✕  Privacy ✕</a:t>
            </a:r>
            <a:br/>
            <a:r>
              <a:t>Conflicts, wrong tool, raw identifiers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7648" y="1417320"/>
            <a:ext cx="5257800" cy="17373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160020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OVER-REDACTED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2011680"/>
            <a:ext cx="480060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Accuracy ✕  Privacy ✓</a:t>
            </a:r>
            <a:br/>
            <a:r>
              <a:t>Clinical concept removed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66160"/>
            <a:ext cx="5257800" cy="17373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74904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ACCURATE / UNSAFE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160520"/>
            <a:ext cx="480060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Accuracy ✓  Privacy ✕</a:t>
            </a:r>
            <a:br/>
            <a:r>
              <a:t>Correct answer leaks PHI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3566160"/>
            <a:ext cx="5257800" cy="17373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74904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GOVERNED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4160520"/>
            <a:ext cx="480060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Accuracy ✓  Privacy ✓</a:t>
            </a:r>
            <a:br/>
            <a:r>
              <a:t>Minimum necessary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SEMANTIC PRESERVATION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Naive redaction can destroy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257800" cy="33375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OVER-REDACT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00600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[PATIENT] was discharged with [CONDITION].</a:t>
            </a:r>
            <a:br/>
            <a:br/>
            <a:r>
              <a:t>Result: the retriever cannot select the cardiology policy.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554480"/>
            <a:ext cx="5257800" cy="33375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73736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MINIMUM NECESSARY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148840"/>
            <a:ext cx="4800600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[PATIENT_1], [MRN_1] ... governed concept: heart failure.</a:t>
            </a:r>
            <a:br/>
            <a:br/>
            <a:r>
              <a:t>Result: identifiers are transformed while clinical meaning survives.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ACCURACY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Govern retrieval with scope and precedence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Retrieve only active policy content permitted by the authorized scope.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CP-104 applies specifically to cardiology discharge and carries precedence 100.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CP-104 explicitly overrides the general CM-220 standard for this scenario.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The answer cites both the controlling source and why it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TOOL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Validate every tool return before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965960" cy="19659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F46"/>
                </a:solidFill>
                <a:latin typeface="DM Sans"/>
              </a:rPr>
              <a:t>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508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policy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2011680"/>
            <a:ext cx="1965960" cy="19659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39" y="21945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DISCLOSE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39" y="2606040"/>
            <a:ext cx="1508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policy tool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2011680"/>
            <a:ext cx="1965960" cy="19659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21945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AUTHORIZE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606040"/>
            <a:ext cx="1508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scope allowed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7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011680"/>
            <a:ext cx="1965960" cy="19659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1945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606040"/>
            <a:ext cx="1508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provenance 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011680"/>
            <a:ext cx="1965960" cy="196596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1945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INFER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606040"/>
            <a:ext cx="15087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minimum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EXPECTED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The governed answer is accurate, cited, and de-identified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AF7F2"/>
                </a:solidFill>
                <a:latin typeface="DM Sans"/>
              </a:rPr>
              <a:t>“Schedule follow-up within 7 days under CP-104. Its cardiology-discharge precedence rule overrides the general CM-220 standard; provide daily weight-monitoring instructions.”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886200"/>
            <a:ext cx="3017520" cy="123444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069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480560"/>
            <a:ext cx="25603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CP-104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886200"/>
            <a:ext cx="3017520" cy="123444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4069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INTERVAL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4480560"/>
            <a:ext cx="25603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Within 7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886200"/>
            <a:ext cx="3017520" cy="1234440"/>
          </a:xfrm>
          <a:prstGeom prst="round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069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0C891"/>
                </a:solidFill>
                <a:latin typeface="DM Sans"/>
              </a:rPr>
              <a:t>IDENTIFIERS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480560"/>
            <a:ext cx="25603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0D0D0"/>
                </a:solidFill>
                <a:latin typeface="DM Sans"/>
              </a:rPr>
              <a:t>None retained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Compare evidence—not impressions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101851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874519"/>
                <a:gridCol w="1874519"/>
                <a:gridCol w="2651760"/>
                <a:gridCol w="2377440"/>
              </a:tblGrid>
              <a:tr h="8412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POLICIES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broken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get_patient_summary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CP-104, CM-220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over_redacted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search_clinical_policy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accurate_unsafe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search_clinical_policy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CP-104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governed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search_clinical_policy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CP-104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LAB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22-minute participant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0–2 — Define purpose and authorization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2–8 — Run four controlled experiments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8–12 — Inspect semantic redaction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12–16 — Verify precedence and tool scope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16–20 — Evaluate accuracy and privacy independently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  <a:latin typeface="DM Sans"/>
              </a:defRPr>
            </a:pPr>
            <a:r>
              <a:t>•  20–22 — Trace exit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EXIT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Inspect six boundaries in MLflow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0D0D0"/>
                </a:solidFill>
                <a:latin typeface="DM Sans"/>
              </a:defRPr>
            </a:pPr>
            <a:r>
              <a:t>•  authorize_request — purpose and scopes</a:t>
            </a:r>
          </a:p>
          <a:p>
            <a:pPr>
              <a:spcAft>
                <a:spcPts val="1200"/>
              </a:spcAft>
              <a:defRPr sz="1800">
                <a:solidFill>
                  <a:srgbClr val="D0D0D0"/>
                </a:solidFill>
                <a:latin typeface="DM Sans"/>
              </a:defRPr>
            </a:pPr>
            <a:r>
              <a:t>•  transform_patient_context — identifiers removed, meaning preserved</a:t>
            </a:r>
          </a:p>
          <a:p>
            <a:pPr>
              <a:spcAft>
                <a:spcPts val="1200"/>
              </a:spcAft>
              <a:defRPr sz="1800">
                <a:solidFill>
                  <a:srgbClr val="D0D0D0"/>
                </a:solidFill>
                <a:latin typeface="DM Sans"/>
              </a:defRPr>
            </a:pPr>
            <a:r>
              <a:t>•  retrieve_governed_context — source selection and precedence</a:t>
            </a:r>
          </a:p>
          <a:p>
            <a:pPr>
              <a:spcAft>
                <a:spcPts val="1200"/>
              </a:spcAft>
              <a:defRPr sz="1800">
                <a:solidFill>
                  <a:srgbClr val="D0D0D0"/>
                </a:solidFill>
                <a:latin typeface="DM Sans"/>
              </a:defRPr>
            </a:pPr>
            <a:r>
              <a:t>•  select_and_validate_tool — progressive disclosure and authorization</a:t>
            </a:r>
          </a:p>
          <a:p>
            <a:pPr>
              <a:spcAft>
                <a:spcPts val="1200"/>
              </a:spcAft>
              <a:defRPr sz="1800">
                <a:solidFill>
                  <a:srgbClr val="D0D0D0"/>
                </a:solidFill>
                <a:latin typeface="DM Sans"/>
              </a:defRPr>
            </a:pPr>
            <a:r>
              <a:t>•  generate_healthcare_answer — cited clinical result</a:t>
            </a:r>
          </a:p>
          <a:p>
            <a:pPr>
              <a:spcAft>
                <a:spcPts val="1200"/>
              </a:spcAft>
              <a:defRPr sz="1800">
                <a:solidFill>
                  <a:srgbClr val="D0D0D0"/>
                </a:solidFill>
                <a:latin typeface="DM Sans"/>
              </a:defRPr>
            </a:pPr>
            <a:r>
              <a:t>•  write_governed_memory — allowlisted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5F46"/>
                </a:solidFill>
                <a:latin typeface="DM Sans"/>
              </a:rPr>
              <a:t>THE DURABLE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AF7F2"/>
                </a:solidFill>
                <a:latin typeface="DM Sans"/>
              </a:rPr>
              <a:t>Minimize unnecessary disclosure.</a:t>
            </a:r>
            <a:br/>
            <a:r>
              <a:t>Preserve necessary clinical meaning.</a:t>
            </a:r>
            <a:br/>
            <a:r>
              <a:t>Prove both in the trace.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4828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9494"/>
                </a:solidFill>
                <a:latin typeface="DM Sans"/>
              </a:rPr>
              <a:t>/Shared/context-engineering-healthcare-agents/notebooks/04_Accuracy_PHISafety_Combined_Lab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49494"/>
                </a:solidFill>
                <a:latin typeface="DM Sans"/>
              </a:rPr>
              <a:t>DATABRICKS  |  COMBINED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49494"/>
                </a:solidFill>
                <a:latin typeface="DM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