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5F46"/>
                </a:solidFill>
                <a:latin typeface="DM Sans"/>
              </a:rPr>
              <a:t>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AF7F2"/>
                </a:solidFill>
                <a:latin typeface="DM Sans"/>
              </a:rPr>
              <a:t>Context Engineering for</a:t>
            </a:r>
            <a:br/>
            <a:r>
              <a:t>Healthcare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0906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DCDCD"/>
                </a:solidFill>
                <a:latin typeface="DM Sans"/>
              </a:rPr>
              <a:t>Diagnosing and tuning agent behavior from MLflow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675887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19191"/>
                </a:solidFill>
                <a:latin typeface="DM Sans"/>
              </a:rPr>
              <a:t>Hands-on workshop  •  45 minutes  •  Fictional patient markers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Context engineering optimizes the system—not one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CDCDCD"/>
                </a:solidFill>
                <a:latin typeface="DM Sans"/>
              </a:defRPr>
            </a:pPr>
            <a:r>
              <a:t>•  Curate the system prompt, retrieved evidence, tools, history, intermediate state, and memory available at inference.</a:t>
            </a:r>
          </a:p>
          <a:p>
            <a:pPr>
              <a:spcAft>
                <a:spcPts val="1200"/>
              </a:spcAft>
              <a:defRPr sz="2200">
                <a:solidFill>
                  <a:srgbClr val="CDCDCD"/>
                </a:solidFill>
                <a:latin typeface="DM Sans"/>
              </a:defRPr>
            </a:pPr>
            <a:r>
              <a:t>•  Treat context as finite: relevance, authority, recency, and minimization determine agent quality.</a:t>
            </a:r>
          </a:p>
          <a:p>
            <a:pPr>
              <a:spcAft>
                <a:spcPts val="1200"/>
              </a:spcAft>
              <a:defRPr sz="2200">
                <a:solidFill>
                  <a:srgbClr val="CDCDCD"/>
                </a:solidFill>
                <a:latin typeface="DM Sans"/>
              </a:defRPr>
            </a:pPr>
            <a:r>
              <a:t>•  In healthcare, the same boundary governs both answer quality and exposure of protected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Trace the complete context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1508760" cy="960120"/>
          </a:xfrm>
          <a:prstGeom prst="roundRect">
            <a:avLst/>
          </a:prstGeom>
          <a:solidFill>
            <a:srgbClr val="282828"/>
          </a:solidFill>
          <a:ln>
            <a:solidFill>
              <a:srgbClr val="FF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8658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AF7F2"/>
                </a:solidFill>
                <a:latin typeface="DM Sans"/>
              </a:rPr>
              <a:t>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148840"/>
            <a:ext cx="1508760" cy="960120"/>
          </a:xfrm>
          <a:prstGeom prst="roundRect">
            <a:avLst/>
          </a:prstGeom>
          <a:solidFill>
            <a:srgbClr val="282828"/>
          </a:solidFill>
          <a:ln>
            <a:solidFill>
              <a:srgbClr val="FF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38658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AF7F2"/>
                </a:solidFill>
                <a:latin typeface="DM Sans"/>
              </a:rPr>
              <a:t>RETRIEVAL</a:t>
            </a:r>
            <a:br/>
            <a:r>
              <a:t>+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148840"/>
            <a:ext cx="1508760" cy="960120"/>
          </a:xfrm>
          <a:prstGeom prst="roundRect">
            <a:avLst/>
          </a:prstGeom>
          <a:solidFill>
            <a:srgbClr val="282828"/>
          </a:solidFill>
          <a:ln>
            <a:solidFill>
              <a:srgbClr val="FF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238658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AF7F2"/>
                </a:solidFill>
                <a:latin typeface="DM Sans"/>
              </a:rPr>
              <a:t>CONTEXT</a:t>
            </a:r>
            <a:br/>
            <a:r>
              <a:t>GUARD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48840"/>
            <a:ext cx="1508760" cy="960120"/>
          </a:xfrm>
          <a:prstGeom prst="roundRect">
            <a:avLst/>
          </a:prstGeom>
          <a:solidFill>
            <a:srgbClr val="282828"/>
          </a:solidFill>
          <a:ln>
            <a:solidFill>
              <a:srgbClr val="FF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38658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AF7F2"/>
                </a:solidFill>
                <a:latin typeface="DM Sans"/>
              </a:rP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148840"/>
            <a:ext cx="1508760" cy="960120"/>
          </a:xfrm>
          <a:prstGeom prst="roundRect">
            <a:avLst/>
          </a:prstGeom>
          <a:solidFill>
            <a:srgbClr val="282828"/>
          </a:solidFill>
          <a:ln>
            <a:solidFill>
              <a:srgbClr val="FF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238658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AF7F2"/>
                </a:solidFill>
                <a:latin typeface="DM Sans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23591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3591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23591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2" y="23591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F5F46"/>
                </a:solidFill>
                <a:latin typeface="DM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CDCDCD"/>
                </a:solidFill>
                <a:latin typeface="DM Sans"/>
              </a:rPr>
              <a:t>At each boundary: What entered? Was it authorized, relevant, current, and minimal? What was transformed, inferred, or persisted?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NOTEBOOK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Start with safe, deterministic workshop setup</a:t>
            </a:r>
          </a:p>
        </p:txBody>
      </p:sp>
      <p:pic>
        <p:nvPicPr>
          <p:cNvPr id="4" name="Picture 3" descr="00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1088136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6327648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9191"/>
                </a:solidFill>
                <a:latin typeface="DM Sans"/>
              </a:rPr>
              <a:t>Rendered from 00_Setup.py; not a live workspace capture.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NOTEBOOK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Read the first bad span—not merely the final answer</a:t>
            </a:r>
          </a:p>
        </p:txBody>
      </p:sp>
      <p:pic>
        <p:nvPicPr>
          <p:cNvPr id="4" name="Picture 3" descr="01_trace_pr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1088136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6327648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9191"/>
                </a:solidFill>
                <a:latin typeface="DM Sans"/>
              </a:rPr>
              <a:t>Rendered from 01_Trace_Reading_Primer.py and deterministic workshop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TRACE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Four failure modes leave distinct trace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08760"/>
            <a:ext cx="5230368" cy="1600200"/>
          </a:xfrm>
          <a:prstGeom prst="round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F46"/>
                </a:solidFill>
                <a:latin typeface="DM Sans"/>
              </a:rPr>
              <a:t>POISONING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DCDCD"/>
                </a:solidFill>
                <a:latin typeface="DM Sans"/>
              </a:rPr>
              <a:t>Untrusted context tries to alter agent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7648" y="1508760"/>
            <a:ext cx="5230368" cy="1600200"/>
          </a:xfrm>
          <a:prstGeom prst="round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F46"/>
                </a:solidFill>
                <a:latin typeface="DM Sans"/>
              </a:rPr>
              <a:t>DISTRACTION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DCDCD"/>
                </a:solidFill>
                <a:latin typeface="DM Sans"/>
              </a:rPr>
              <a:t>Irrelevant volume crowds out useful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66160"/>
            <a:ext cx="5230368" cy="1600200"/>
          </a:xfrm>
          <a:prstGeom prst="round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F46"/>
                </a:solidFill>
                <a:latin typeface="DM Sans"/>
              </a:rPr>
              <a:t>CONFUSION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DCDCD"/>
                </a:solidFill>
                <a:latin typeface="DM Sans"/>
              </a:rPr>
              <a:t>Stale or contradictory evidence competes.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3566160"/>
            <a:ext cx="5230368" cy="1600200"/>
          </a:xfrm>
          <a:prstGeom prst="round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794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F46"/>
                </a:solidFill>
                <a:latin typeface="DM Sans"/>
              </a:rPr>
              <a:t>CLASH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5196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DCDCD"/>
                </a:solidFill>
                <a:latin typeface="DM Sans"/>
              </a:rPr>
              <a:t>Overlapping tools or instructions collide.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NOTEBOOK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The broken trace exposes all four failure modes</a:t>
            </a:r>
          </a:p>
        </p:txBody>
      </p:sp>
      <p:pic>
        <p:nvPicPr>
          <p:cNvPr id="4" name="Picture 3" descr="02_broken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1088136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6327648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9191"/>
                </a:solidFill>
                <a:latin typeface="DM Sans"/>
              </a:rPr>
              <a:t>Rendered from 02_Combined_Lab.py and its deterministic broken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REMEDIATION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Intervene at the earliest enforceable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DCDCD"/>
                </a:solidFill>
                <a:latin typeface="DM Sans"/>
              </a:defRPr>
            </a:pPr>
            <a:r>
              <a:t>•  Filter retrieval to approved policy corpora and current metadata; use smaller policy-oriented chunks.</a:t>
            </a:r>
          </a:p>
          <a:p>
            <a:pPr>
              <a:spcAft>
                <a:spcPts val="1200"/>
              </a:spcAft>
              <a:defRPr sz="2000">
                <a:solidFill>
                  <a:srgbClr val="CDCDCD"/>
                </a:solidFill>
                <a:latin typeface="DM Sans"/>
              </a:defRPr>
            </a:pPr>
            <a:r>
              <a:t>•  Drop unauthorized patient records and redact sensitive markers before model inference.</a:t>
            </a:r>
          </a:p>
          <a:p>
            <a:pPr>
              <a:spcAft>
                <a:spcPts val="1200"/>
              </a:spcAft>
              <a:defRPr sz="2000">
                <a:solidFill>
                  <a:srgbClr val="CDCDCD"/>
                </a:solidFill>
                <a:latin typeface="DM Sans"/>
              </a:defRPr>
            </a:pPr>
            <a:r>
              <a:t>•  Use progressive disclosure so policy intent exposes only the policy-search tool.</a:t>
            </a:r>
          </a:p>
          <a:p>
            <a:pPr>
              <a:spcAft>
                <a:spcPts val="1200"/>
              </a:spcAft>
              <a:defRPr sz="2000">
                <a:solidFill>
                  <a:srgbClr val="CDCDCD"/>
                </a:solidFill>
                <a:latin typeface="DM Sans"/>
              </a:defRPr>
            </a:pPr>
            <a:r>
              <a:t>•  Persist allowlisted, de-identified memory rather than raw conversations or model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NOTEBOOK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Prove the fix with before-and-after evidence</a:t>
            </a:r>
          </a:p>
        </p:txBody>
      </p:sp>
      <p:pic>
        <p:nvPicPr>
          <p:cNvPr id="4" name="Picture 3" descr="03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1088136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6327648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9191"/>
                </a:solidFill>
                <a:latin typeface="DM Sans"/>
              </a:rPr>
              <a:t>Rendered from 03_Before_After_Debrief.py and deterministic comparison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BEFORE →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Evidence improves across every context boundary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63040"/>
          <a:ext cx="106527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200400"/>
                <a:gridCol w="3611880"/>
              </a:tblGrid>
              <a:tr h="7162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BROKEN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FIXED</a:t>
                      </a:r>
                    </a:p>
                  </a:txBody>
                  <a:tcPr>
                    <a:solidFill>
                      <a:srgbClr val="FF5F46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PHI locations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Selected tool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get_patient_summary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search_clinical_policy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Retrieved chunks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Model context characters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1041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Safe memory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AF7F2"/>
                          </a:solidFill>
                          <a:latin typeface="DM San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WORKSHOP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45-minute participant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0–3 — Setup and synthetic-data warning</a:t>
            </a:r>
          </a:p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3–10 — Trace-reading primer and four failure modes</a:t>
            </a:r>
          </a:p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10–25 — Generate and triage the broken trace</a:t>
            </a:r>
          </a:p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25–39 — Apply remediation and compare trace evidence</a:t>
            </a:r>
          </a:p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39–45 — Debrief, transfer rule, and exit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F46"/>
                </a:solidFill>
                <a:latin typeface="DM Sans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AF7F2"/>
                </a:solidFill>
                <a:latin typeface="DM Sans"/>
              </a:rPr>
              <a:t>Participant exit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Where did sensitive context first enter the trace?</a:t>
            </a:r>
          </a:p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Which retrieval evidence proves poisoning, distraction, or confusion?</a:t>
            </a:r>
          </a:p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Why did the wrong tool win, and how did progressive disclosure change routing?</a:t>
            </a:r>
          </a:p>
          <a:p>
            <a:pPr>
              <a:spcAft>
                <a:spcPts val="1200"/>
              </a:spcAft>
              <a:defRPr sz="2100">
                <a:solidFill>
                  <a:srgbClr val="CDCDCD"/>
                </a:solidFill>
                <a:latin typeface="DM Sans"/>
              </a:defRPr>
            </a:pPr>
            <a:r>
              <a:t>•  Which spans prove the fix changed the system rather than one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5F46"/>
                </a:solidFill>
                <a:latin typeface="DM Sans"/>
              </a:rPr>
              <a:t>THE DURABLE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AF7F2"/>
                </a:solidFill>
                <a:latin typeface="DM Sans"/>
              </a:rPr>
              <a:t>Trace the full lifecycle.</a:t>
            </a:r>
            <a:br/>
            <a:r>
              <a:t>Curate the minimum useful context.</a:t>
            </a:r>
            <a:br/>
            <a:r>
              <a:t>Verify the change with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4800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19191"/>
                </a:solidFill>
                <a:latin typeface="DM Sans"/>
              </a:rPr>
              <a:t>Workshop notebooks: /Shared/context-engineering-healthcare-agents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919191"/>
                </a:solidFill>
                <a:latin typeface="DM Sans"/>
              </a:rPr>
              <a:t>DATABRICKS  |  CONTEXT ENGINEERING FOR HEALTHCARE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9191"/>
                </a:solidFill>
                <a:latin typeface="DM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